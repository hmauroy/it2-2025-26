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667EEA"/>
                </a:solidFill>
              </a:defRPr>
            </a:pPr>
            <a:r>
              <a:t>Object-Oriented Programming</a:t>
            </a:r>
          </a:p>
          <a:p>
            <a:r>
              <a:t>vs</a:t>
            </a:r>
          </a:p>
          <a:p>
            <a:r>
              <a:t>Functional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A Comprehensive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Object-Oriented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OOP organizes code around objects that contain both data (attributes) and behavior (methods).</a:t>
            </a:r>
          </a:p>
          <a:p>
            <a:pPr>
              <a:defRPr b="1"/>
            </a:pPr>
            <a:r>
              <a:t>Key Concepts:</a:t>
            </a:r>
          </a:p>
          <a:p>
            <a:pPr lvl="1"/>
            <a:r>
              <a:t>Encapsulation: Bundling data and methods together</a:t>
            </a:r>
          </a:p>
          <a:p>
            <a:pPr lvl="1"/>
            <a:r>
              <a:t>Inheritance: Creating new classes from existing ones</a:t>
            </a:r>
          </a:p>
          <a:p>
            <a:pPr lvl="1"/>
            <a:r>
              <a:t>Polymorphism: Objects taking multiple forms</a:t>
            </a:r>
          </a:p>
          <a:p>
            <a:pPr lvl="1"/>
            <a:r>
              <a:t>Abstraction: Hiding complex implementation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Functional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FP treats computation as the evaluation of mathematical functions and avoids changing state.</a:t>
            </a:r>
          </a:p>
          <a:p>
            <a:pPr>
              <a:defRPr b="1"/>
            </a:pPr>
            <a:r>
              <a:t>Key Concepts:</a:t>
            </a:r>
          </a:p>
          <a:p>
            <a:pPr lvl="1"/>
            <a:r>
              <a:t>Pure Functions: Same input always produces same output</a:t>
            </a:r>
          </a:p>
          <a:p>
            <a:pPr lvl="1"/>
            <a:r>
              <a:t>Immutability: Data cannot be changed after creation</a:t>
            </a:r>
          </a:p>
          <a:p>
            <a:pPr lvl="1"/>
            <a:r>
              <a:t>First-Class Functions: Functions as values</a:t>
            </a:r>
          </a:p>
          <a:p>
            <a:pPr lvl="1"/>
            <a:r>
              <a:t>Higher-Order Functions: Functions that take/return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of 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059669"/>
                </a:solidFill>
              </a:defRPr>
            </a:pPr>
            <a:r>
              <a:t>Intuitive modeling: Naturally represents real-world entities</a:t>
            </a:r>
          </a:p>
          <a:p>
            <a:pPr>
              <a:defRPr>
                <a:solidFill>
                  <a:srgbClr val="059669"/>
                </a:solidFill>
              </a:defRPr>
            </a:pPr>
            <a:r>
              <a:t>Encapsulation: Data hiding improves security and reduces complexity</a:t>
            </a:r>
          </a:p>
          <a:p>
            <a:pPr>
              <a:defRPr>
                <a:solidFill>
                  <a:srgbClr val="059669"/>
                </a:solidFill>
              </a:defRPr>
            </a:pPr>
            <a:r>
              <a:t>Code reuse: Inheritance allows extending existing code</a:t>
            </a:r>
          </a:p>
          <a:p>
            <a:pPr>
              <a:defRPr>
                <a:solidFill>
                  <a:srgbClr val="059669"/>
                </a:solidFill>
              </a:defRPr>
            </a:pPr>
            <a:r>
              <a:t>Maintainability: Well-organized code is easier to update</a:t>
            </a:r>
          </a:p>
          <a:p>
            <a:pPr>
              <a:defRPr>
                <a:solidFill>
                  <a:srgbClr val="059669"/>
                </a:solidFill>
              </a:defRPr>
            </a:pPr>
            <a:r>
              <a:t>Large ecosystems: Many frameworks and libraries support OOP</a:t>
            </a:r>
          </a:p>
          <a:p>
            <a:pPr>
              <a:defRPr>
                <a:solidFill>
                  <a:srgbClr val="059669"/>
                </a:solidFill>
              </a:defRPr>
            </a:pPr>
            <a:r>
              <a:t>Team collaboration: Clear structure helps large teams work together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 of 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DC2626"/>
                </a:solidFill>
              </a:defRPr>
            </a:pPr>
            <a:r>
              <a:t>Complexity: Deep inheritance hierarchies become hard to manage</a:t>
            </a:r>
          </a:p>
          <a:p>
            <a:pPr>
              <a:defRPr>
                <a:solidFill>
                  <a:srgbClr val="DC2626"/>
                </a:solidFill>
              </a:defRPr>
            </a:pPr>
            <a:r>
              <a:t>Tight coupling: Objects often depend heavily on each other</a:t>
            </a:r>
          </a:p>
          <a:p>
            <a:pPr>
              <a:defRPr>
                <a:solidFill>
                  <a:srgbClr val="DC2626"/>
                </a:solidFill>
              </a:defRPr>
            </a:pPr>
            <a:r>
              <a:t>Mutable state: Changing object state can lead to bugs</a:t>
            </a:r>
          </a:p>
          <a:p>
            <a:pPr>
              <a:defRPr>
                <a:solidFill>
                  <a:srgbClr val="DC2626"/>
                </a:solidFill>
              </a:defRPr>
            </a:pPr>
            <a:r>
              <a:t>Overhead: Objects consume more memory and processing</a:t>
            </a:r>
          </a:p>
          <a:p>
            <a:pPr>
              <a:defRPr>
                <a:solidFill>
                  <a:srgbClr val="DC2626"/>
                </a:solidFill>
              </a:defRPr>
            </a:pPr>
            <a:r>
              <a:t>Testing challenges: Mocking dependencies can be difficult</a:t>
            </a:r>
          </a:p>
          <a:p>
            <a:pPr>
              <a:defRPr>
                <a:solidFill>
                  <a:srgbClr val="DC2626"/>
                </a:solidFill>
              </a:defRPr>
            </a:pPr>
            <a:r>
              <a:t>Parallelism issues: Shared mutable state complicates concurrent programming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of Functional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059669"/>
                </a:solidFill>
              </a:defRPr>
            </a:pPr>
            <a:r>
              <a:t>Predictability: Pure functions are easy to reason about</a:t>
            </a:r>
          </a:p>
          <a:p>
            <a:pPr>
              <a:defRPr>
                <a:solidFill>
                  <a:srgbClr val="059669"/>
                </a:solidFill>
              </a:defRPr>
            </a:pPr>
            <a:r>
              <a:t>Testability: Functions with no side effects are simple to test</a:t>
            </a:r>
          </a:p>
          <a:p>
            <a:pPr>
              <a:defRPr>
                <a:solidFill>
                  <a:srgbClr val="059669"/>
                </a:solidFill>
              </a:defRPr>
            </a:pPr>
            <a:r>
              <a:t>Concurrency: Immutability makes parallel execution safer</a:t>
            </a:r>
          </a:p>
          <a:p>
            <a:pPr>
              <a:defRPr>
                <a:solidFill>
                  <a:srgbClr val="059669"/>
                </a:solidFill>
              </a:defRPr>
            </a:pPr>
            <a:r>
              <a:t>Debugging: No hidden state changes to track down</a:t>
            </a:r>
          </a:p>
          <a:p>
            <a:pPr>
              <a:defRPr>
                <a:solidFill>
                  <a:srgbClr val="059669"/>
                </a:solidFill>
              </a:defRPr>
            </a:pPr>
            <a:r>
              <a:t>Composability: Small functions combine into complex operations</a:t>
            </a:r>
          </a:p>
          <a:p>
            <a:pPr>
              <a:defRPr>
                <a:solidFill>
                  <a:srgbClr val="059669"/>
                </a:solidFill>
              </a:defRPr>
            </a:pPr>
            <a:r>
              <a:t>Mathematical foundation: Strong theoretical basis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 of Functional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DC2626"/>
                </a:solidFill>
              </a:defRPr>
            </a:pPr>
            <a:r>
              <a:t>Learning curve: Concepts like monads can be challenging</a:t>
            </a:r>
          </a:p>
          <a:p>
            <a:pPr>
              <a:defRPr>
                <a:solidFill>
                  <a:srgbClr val="DC2626"/>
                </a:solidFill>
              </a:defRPr>
            </a:pPr>
            <a:r>
              <a:t>Verbosity: Some operations require more code</a:t>
            </a:r>
          </a:p>
          <a:p>
            <a:pPr>
              <a:defRPr>
                <a:solidFill>
                  <a:srgbClr val="DC2626"/>
                </a:solidFill>
              </a:defRPr>
            </a:pPr>
            <a:r>
              <a:t>Performance: Immutability may create many object copies</a:t>
            </a:r>
          </a:p>
          <a:p>
            <a:pPr>
              <a:defRPr>
                <a:solidFill>
                  <a:srgbClr val="DC2626"/>
                </a:solidFill>
              </a:defRPr>
            </a:pPr>
            <a:r>
              <a:t>Limited libraries: Fewer FP-specific frameworks available</a:t>
            </a:r>
          </a:p>
          <a:p>
            <a:pPr>
              <a:defRPr>
                <a:solidFill>
                  <a:srgbClr val="DC2626"/>
                </a:solidFill>
              </a:defRPr>
            </a:pPr>
            <a:r>
              <a:t>State management: Handling real-world state changes is less intuitive</a:t>
            </a:r>
          </a:p>
          <a:p>
            <a:pPr>
              <a:defRPr>
                <a:solidFill>
                  <a:srgbClr val="DC2626"/>
                </a:solidFill>
              </a:defRPr>
            </a:pPr>
            <a:r>
              <a:t>Industry adoption: Fewer developers experienced in pure FP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Which to Choose?</a:t>
            </a:r>
          </a:p>
          <a:p>
            <a:pPr/>
            <a:r>
              <a:t>Both paradigms have strengths. Many modern languages support both approaches!</a:t>
            </a:r>
          </a:p>
          <a:p>
            <a:pPr lvl="1"/>
            <a:r>
              <a:t>OOP excels: GUI applications, game development, large systems modeling real-world entities</a:t>
            </a:r>
          </a:p>
          <a:p>
            <a:pPr lvl="1"/>
            <a:r>
              <a:t>FP excels: Data processing, concurrent systems, mathematical computations</a:t>
            </a:r>
          </a:p>
          <a:p>
            <a:pPr lvl="1"/>
            <a:r>
              <a:t>Best practice: Use a hybrid approach, combining the strengths of both paradigms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